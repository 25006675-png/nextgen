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72420"/>
            </a:solidFill>
            <a:ln w="19050" cap="flat">
              <a:solidFill>
                <a:srgbClr val="172420"/>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2420"/>
              </a:solidFill>
              <a:ln w="9525" cap="flat">
                <a:solidFill>
                  <a:srgbClr val="172420"/>
                </a:solidFill>
                <a:prstDash val="solid"/>
                <a:round/>
              </a:ln>
              <a:effectLst/>
            </c:spPr>
          </c:marker>
          <c:cat>
            <c:multiLvlStrRef>
              <c:f>Sheet1!$A$2:$A$22</c:f>
              <c:multiLvlStrCache>
                <c:ptCount val="21"/>
                <c:lvl>
                  <c:pt idx="0">
                    <c:v>22/9</c:v>
                  </c:pt>
                  <c:pt idx="1">
                    <c:v>23/9</c:v>
                  </c:pt>
                  <c:pt idx="2">
                    <c:v>24/9</c:v>
                  </c:pt>
                  <c:pt idx="3">
                    <c:v>25/9</c:v>
                  </c:pt>
                  <c:pt idx="4">
                    <c:v>26/9</c:v>
                  </c:pt>
                  <c:pt idx="5">
                    <c:v>27/9</c:v>
                  </c:pt>
                  <c:pt idx="6">
                    <c:v>28/9</c:v>
                  </c:pt>
                  <c:pt idx="7">
                    <c:v>29/9</c:v>
                  </c:pt>
                  <c:pt idx="8">
                    <c:v>30/9</c:v>
                  </c:pt>
                  <c:pt idx="9">
                    <c:v>1/10</c:v>
                  </c:pt>
                  <c:pt idx="10">
                    <c:v>2/10</c:v>
                  </c:pt>
                  <c:pt idx="11">
                    <c:v>3/10</c:v>
                  </c:pt>
                  <c:pt idx="12">
                    <c:v>4/10</c:v>
                  </c:pt>
                  <c:pt idx="13">
                    <c:v>5/10</c:v>
                  </c:pt>
                  <c:pt idx="14">
                    <c:v>6/10</c:v>
                  </c:pt>
                  <c:pt idx="15">
                    <c:v>7/10</c:v>
                  </c:pt>
                  <c:pt idx="16">
                    <c:v>8/10</c:v>
                  </c:pt>
                  <c:pt idx="17">
                    <c:v>9/10</c:v>
                  </c:pt>
                  <c:pt idx="18">
                    <c:v>10/10</c:v>
                  </c:pt>
                  <c:pt idx="19">
                    <c:v>11/10</c:v>
                  </c:pt>
                  <c:pt idx="20">
                    <c:v>12/10</c:v>
                  </c:pt>
                </c:lvl>
              </c:multiLvlStrCache>
            </c:multiLvlStrRef>
          </c:cat>
          <c:val>
            <c:numRef>
              <c:f>Sheet1!$B$2:$B$22</c:f>
              <c:numCache>
                <c:formatCode>General</c:formatCode>
                <c:ptCount val="21"/>
                <c:pt idx="0">
                  <c:v>0.85</c:v>
                </c:pt>
                <c:pt idx="1">
                  <c:v>1.1</c:v>
                </c:pt>
                <c:pt idx="2">
                  <c:v>0.81</c:v>
                </c:pt>
                <c:pt idx="3">
                  <c:v>1.28</c:v>
                </c:pt>
                <c:pt idx="4">
                  <c:v>1.68</c:v>
                </c:pt>
                <c:pt idx="5">
                  <c:v>1.67</c:v>
                </c:pt>
                <c:pt idx="6">
                  <c:v>1.04</c:v>
                </c:pt>
                <c:pt idx="7">
                  <c:v>1.52</c:v>
                </c:pt>
                <c:pt idx="8">
                  <c:v>1.02</c:v>
                </c:pt>
                <c:pt idx="9">
                  <c:v>0.73</c:v>
                </c:pt>
                <c:pt idx="10">
                  <c:v>1.2</c:v>
                </c:pt>
                <c:pt idx="11">
                  <c:v>2.38</c:v>
                </c:pt>
                <c:pt idx="12">
                  <c:v>1.64</c:v>
                </c:pt>
                <c:pt idx="13">
                  <c:v>0.7</c:v>
                </c:pt>
                <c:pt idx="14">
                  <c:v/>
                </c:pt>
                <c:pt idx="15">
                  <c:v/>
                </c:pt>
                <c:pt idx="16">
                  <c:v/>
                </c:pt>
                <c:pt idx="17">
                  <c:v/>
                </c:pt>
                <c:pt idx="18">
                  <c:v/>
                </c:pt>
                <c:pt idx="19">
                  <c:v/>
                </c:pt>
                <c:pt idx="20">
                  <c:v/>
                </c:pt>
              </c:numCache>
            </c:numRef>
          </c:val>
          <c:smooth val="0"/>
        </c:ser>
        <c:ser>
          <c:idx val="1"/>
          <c:order val="1"/>
          <c:tx>
            <c:strRef>
              <c:f>Sheet1!$C$1</c:f>
              <c:strCache>
                <c:ptCount val="1"/>
                <c:pt idx="0">
                  <c:v>Forecast</c:v>
                </c:pt>
              </c:strCache>
            </c:strRef>
          </c:tx>
          <c:spPr>
            <a:solidFill>
              <a:srgbClr val="0E7C63"/>
            </a:solidFill>
            <a:ln w="1905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Sheet1!$A$2:$A$22</c:f>
              <c:multiLvlStrCache>
                <c:ptCount val="21"/>
                <c:lvl>
                  <c:pt idx="0">
                    <c:v>22/9</c:v>
                  </c:pt>
                  <c:pt idx="1">
                    <c:v>23/9</c:v>
                  </c:pt>
                  <c:pt idx="2">
                    <c:v>24/9</c:v>
                  </c:pt>
                  <c:pt idx="3">
                    <c:v>25/9</c:v>
                  </c:pt>
                  <c:pt idx="4">
                    <c:v>26/9</c:v>
                  </c:pt>
                  <c:pt idx="5">
                    <c:v>27/9</c:v>
                  </c:pt>
                  <c:pt idx="6">
                    <c:v>28/9</c:v>
                  </c:pt>
                  <c:pt idx="7">
                    <c:v>29/9</c:v>
                  </c:pt>
                  <c:pt idx="8">
                    <c:v>30/9</c:v>
                  </c:pt>
                  <c:pt idx="9">
                    <c:v>1/10</c:v>
                  </c:pt>
                  <c:pt idx="10">
                    <c:v>2/10</c:v>
                  </c:pt>
                  <c:pt idx="11">
                    <c:v>3/10</c:v>
                  </c:pt>
                  <c:pt idx="12">
                    <c:v>4/10</c:v>
                  </c:pt>
                  <c:pt idx="13">
                    <c:v>5/10</c:v>
                  </c:pt>
                  <c:pt idx="14">
                    <c:v>6/10</c:v>
                  </c:pt>
                  <c:pt idx="15">
                    <c:v>7/10</c:v>
                  </c:pt>
                  <c:pt idx="16">
                    <c:v>8/10</c:v>
                  </c:pt>
                  <c:pt idx="17">
                    <c:v>9/10</c:v>
                  </c:pt>
                  <c:pt idx="18">
                    <c:v>10/10</c:v>
                  </c:pt>
                  <c:pt idx="19">
                    <c:v>11/10</c:v>
                  </c:pt>
                  <c:pt idx="20">
                    <c:v>12/10</c:v>
                  </c:pt>
                </c:lvl>
              </c:multiLvlStrCache>
            </c:multiLvlStrRef>
          </c:cat>
          <c:val>
            <c:numRef>
              <c:f>Sheet1!$C$2:$C$22</c:f>
              <c:numCache>
                <c:formatCode>General</c:formatCode>
                <c:ptCount val="21"/>
                <c:pt idx="0">
                  <c:v>1.15</c:v>
                </c:pt>
                <c:pt idx="1">
                  <c:v>1.16</c:v>
                </c:pt>
                <c:pt idx="2">
                  <c:v>1.27</c:v>
                </c:pt>
                <c:pt idx="3">
                  <c:v>1.55</c:v>
                </c:pt>
                <c:pt idx="4">
                  <c:v>1.62</c:v>
                </c:pt>
                <c:pt idx="5">
                  <c:v>1.86</c:v>
                </c:pt>
                <c:pt idx="6">
                  <c:v>1.1</c:v>
                </c:pt>
                <c:pt idx="7">
                  <c:v>1.1</c:v>
                </c:pt>
                <c:pt idx="8">
                  <c:v>1.15</c:v>
                </c:pt>
                <c:pt idx="9">
                  <c:v>1.23</c:v>
                </c:pt>
                <c:pt idx="10">
                  <c:v>1.43</c:v>
                </c:pt>
                <c:pt idx="11">
                  <c:v>1.6</c:v>
                </c:pt>
                <c:pt idx="12">
                  <c:v>1.75</c:v>
                </c:pt>
                <c:pt idx="13">
                  <c:v>1.13</c:v>
                </c:pt>
                <c:pt idx="14">
                  <c:v>1.24</c:v>
                </c:pt>
                <c:pt idx="15">
                  <c:v>1.06</c:v>
                </c:pt>
                <c:pt idx="16">
                  <c:v>0.98</c:v>
                </c:pt>
                <c:pt idx="17">
                  <c:v>1.45</c:v>
                </c:pt>
                <c:pt idx="18">
                  <c:v>1.68</c:v>
                </c:pt>
                <c:pt idx="19">
                  <c:v>1.67</c:v>
                </c:pt>
                <c:pt idx="20">
                  <c:v>1.09</c:v>
                </c:pt>
              </c:numCache>
            </c:numRef>
          </c:val>
          <c:smooth val="0"/>
        </c:ser>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9B6B0"/>
            </a:solidFill>
            <a:prstDash val="solid"/>
            <a:round/>
          </a:ln>
        </c:spPr>
        <c:txPr>
          <a:bodyPr/>
          <a:lstStyle/>
          <a:p>
            <a:pPr>
              <a:defRPr sz="1000" b="0" i="0" u="none" strike="noStrike">
                <a:solidFill>
                  <a:srgbClr val="5A6B64"/>
                </a:solidFill>
                <a:latin typeface="+mn-lt"/>
              </a:defRPr>
            </a:pPr>
            <a:endParaRPr lang="en-US"/>
          </a:p>
        </c:txPr>
        <c:crossAx val="2094734552"/>
        <c:crosses val="autoZero"/>
        <c:auto val="1"/>
        <c:lblAlgn val="ctr"/>
        <c:noMultiLvlLbl val="1"/>
        <c:tickLblSkip val="7"/>
      </c:catAx>
      <c:valAx>
        <c:axId val="2094734552"/>
        <c:scaling>
          <c:orientation val="minMax"/>
          <c:max val="2.5"/>
          <c:min val="0"/>
        </c:scaling>
        <c:delete val="0"/>
        <c:axPos val="l"/>
        <c:majorGridlines>
          <c:spPr>
            <a:ln w="6350" cap="flat">
              <a:solidFill>
                <a:srgbClr val="DCE4E0"/>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A6B64"/>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000">
              <a:solidFill>
                <a:srgbClr val="5A6B64"/>
              </a:solidFill>
              <a:latin typeface="+mn-lt"/>
              <a:cs typeface="+mn-lt"/>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Run 1</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Sheet1!$B$2:$B$7</c:f>
              <c:numCache>
                <c:formatCode>General</c:formatCode>
                <c:ptCount val="6"/>
                <c:pt idx="0">
                  <c:v>2.45</c:v>
                </c:pt>
                <c:pt idx="1">
                  <c:v>2.13</c:v>
                </c:pt>
                <c:pt idx="2">
                  <c:v>1.78</c:v>
                </c:pt>
                <c:pt idx="3">
                  <c:v>1.36</c:v>
                </c:pt>
                <c:pt idx="4">
                  <c:v>0.96</c:v>
                </c:pt>
                <c:pt idx="5">
                  <c:v>0.5</c:v>
                </c:pt>
              </c:numCache>
            </c:numRef>
          </c:val>
          <c:smooth val="0"/>
        </c:ser>
        <c:ser>
          <c:idx val="1"/>
          <c:order val="1"/>
          <c:tx>
            <c:strRef>
              <c:f>Sheet1!$C$1</c:f>
              <c:strCache>
                <c:ptCount val="1"/>
                <c:pt idx="0">
                  <c:v>Run 2</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Sheet1!$C$2:$C$7</c:f>
              <c:numCache>
                <c:formatCode>General</c:formatCode>
                <c:ptCount val="6"/>
                <c:pt idx="0">
                  <c:v>2.45</c:v>
                </c:pt>
                <c:pt idx="1">
                  <c:v>2.19</c:v>
                </c:pt>
                <c:pt idx="2">
                  <c:v>1.87</c:v>
                </c:pt>
                <c:pt idx="3">
                  <c:v>1.58</c:v>
                </c:pt>
                <c:pt idx="4">
                  <c:v>1.29</c:v>
                </c:pt>
                <c:pt idx="5">
                  <c:v>0.84</c:v>
                </c:pt>
              </c:numCache>
            </c:numRef>
          </c:val>
          <c:smooth val="0"/>
        </c:ser>
        <c:ser>
          <c:idx val="2"/>
          <c:order val="2"/>
          <c:tx>
            <c:strRef>
              <c:f>Sheet1!$D$1</c:f>
              <c:strCache>
                <c:ptCount val="1"/>
                <c:pt idx="0">
                  <c:v>Run 3</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Sheet1!$D$2:$D$7</c:f>
              <c:numCache>
                <c:formatCode>General</c:formatCode>
                <c:ptCount val="6"/>
                <c:pt idx="0">
                  <c:v>2.45</c:v>
                </c:pt>
                <c:pt idx="1">
                  <c:v>2.14</c:v>
                </c:pt>
                <c:pt idx="2">
                  <c:v>1.67</c:v>
                </c:pt>
                <c:pt idx="3">
                  <c:v>0.9</c:v>
                </c:pt>
                <c:pt idx="4">
                  <c:v>0.61</c:v>
                </c:pt>
                <c:pt idx="5">
                  <c:v>0.3</c:v>
                </c:pt>
              </c:numCache>
            </c:numRef>
          </c:val>
          <c:smooth val="0"/>
        </c:ser>
        <c:ser>
          <c:idx val="3"/>
          <c:order val="3"/>
          <c:tx>
            <c:strRef>
              <c:f>Sheet1!$E$1</c:f>
              <c:strCache>
                <c:ptCount val="1"/>
                <c:pt idx="0">
                  <c:v>Run 4</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Sheet1!$E$2:$E$7</c:f>
              <c:numCache>
                <c:formatCode>General</c:formatCode>
                <c:ptCount val="6"/>
                <c:pt idx="0">
                  <c:v>2.45</c:v>
                </c:pt>
                <c:pt idx="1">
                  <c:v>2.23</c:v>
                </c:pt>
                <c:pt idx="2">
                  <c:v>1.75</c:v>
                </c:pt>
                <c:pt idx="3">
                  <c:v>1.19</c:v>
                </c:pt>
                <c:pt idx="4">
                  <c:v>0.91</c:v>
                </c:pt>
                <c:pt idx="5">
                  <c:v>0.3</c:v>
                </c:pt>
              </c:numCache>
            </c:numRef>
          </c:val>
          <c:smooth val="0"/>
        </c:ser>
        <c:ser>
          <c:idx val="4"/>
          <c:order val="4"/>
          <c:tx>
            <c:strRef>
              <c:f>Sheet1!$F$1</c:f>
              <c:strCache>
                <c:ptCount val="1"/>
                <c:pt idx="0">
                  <c:v>Run 5</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Sheet1!$F$2:$F$7</c:f>
              <c:numCache>
                <c:formatCode>General</c:formatCode>
                <c:ptCount val="6"/>
                <c:pt idx="0">
                  <c:v>2.45</c:v>
                </c:pt>
                <c:pt idx="1">
                  <c:v>2.09</c:v>
                </c:pt>
                <c:pt idx="2">
                  <c:v>1.36</c:v>
                </c:pt>
                <c:pt idx="3">
                  <c:v>0.8</c:v>
                </c:pt>
                <c:pt idx="4">
                  <c:v>0.51</c:v>
                </c:pt>
                <c:pt idx="5">
                  <c:v>0.2</c:v>
                </c:pt>
              </c:numCache>
            </c:numRef>
          </c:val>
          <c:smooth val="0"/>
        </c:ser>
        <c:ser>
          <c:idx val="5"/>
          <c:order val="5"/>
          <c:tx>
            <c:strRef>
              <c:f>Sheet1!$G$1</c:f>
              <c:strCache>
                <c:ptCount val="1"/>
                <c:pt idx="0">
                  <c:v>Run 6</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Sheet1!$G$2:$G$7</c:f>
              <c:numCache>
                <c:formatCode>General</c:formatCode>
                <c:ptCount val="6"/>
                <c:pt idx="0">
                  <c:v>2.45</c:v>
                </c:pt>
                <c:pt idx="1">
                  <c:v>2</c:v>
                </c:pt>
                <c:pt idx="2">
                  <c:v>1.65</c:v>
                </c:pt>
                <c:pt idx="3">
                  <c:v>0.82</c:v>
                </c:pt>
                <c:pt idx="4">
                  <c:v>0.4</c:v>
                </c:pt>
                <c:pt idx="5">
                  <c:v>0</c:v>
                </c:pt>
              </c:numCache>
            </c:numRef>
          </c:val>
          <c:smooth val="0"/>
        </c:ser>
        <c:ser>
          <c:idx val="6"/>
          <c:order val="6"/>
          <c:tx>
            <c:strRef>
              <c:f>Sheet1!$H$1</c:f>
              <c:strCache>
                <c:ptCount val="1"/>
                <c:pt idx="0">
                  <c:v>Run 7</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Sheet1!$H$2:$H$7</c:f>
              <c:numCache>
                <c:formatCode>General</c:formatCode>
                <c:ptCount val="6"/>
                <c:pt idx="0">
                  <c:v>2.45</c:v>
                </c:pt>
                <c:pt idx="1">
                  <c:v>1.96</c:v>
                </c:pt>
                <c:pt idx="2">
                  <c:v>1.22</c:v>
                </c:pt>
                <c:pt idx="3">
                  <c:v>0.94</c:v>
                </c:pt>
                <c:pt idx="4">
                  <c:v>0.6</c:v>
                </c:pt>
                <c:pt idx="5">
                  <c:v>0</c:v>
                </c:pt>
              </c:numCache>
            </c:numRef>
          </c:val>
          <c:smooth val="0"/>
        </c:ser>
        <c:ser>
          <c:idx val="7"/>
          <c:order val="7"/>
          <c:tx>
            <c:strRef>
              <c:f>Sheet1!$I$1</c:f>
              <c:strCache>
                <c:ptCount val="1"/>
                <c:pt idx="0">
                  <c:v>Run 8</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Sheet1!$I$2:$I$7</c:f>
              <c:numCache>
                <c:formatCode>General</c:formatCode>
                <c:ptCount val="6"/>
                <c:pt idx="0">
                  <c:v>2.45</c:v>
                </c:pt>
                <c:pt idx="1">
                  <c:v>2.08</c:v>
                </c:pt>
                <c:pt idx="2">
                  <c:v>1.83</c:v>
                </c:pt>
                <c:pt idx="3">
                  <c:v>1.28</c:v>
                </c:pt>
                <c:pt idx="4">
                  <c:v>1.04</c:v>
                </c:pt>
                <c:pt idx="5">
                  <c:v>0.31</c:v>
                </c:pt>
              </c:numCache>
            </c:numRef>
          </c:val>
          <c:smooth val="0"/>
        </c:ser>
        <c:ser>
          <c:idx val="8"/>
          <c:order val="8"/>
          <c:tx>
            <c:strRef>
              <c:f>Sheet1!$J$1</c:f>
              <c:strCache>
                <c:ptCount val="1"/>
                <c:pt idx="0">
                  <c:v>Run 9</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Sheet1!$J$2:$J$7</c:f>
              <c:numCache>
                <c:formatCode>General</c:formatCode>
                <c:ptCount val="6"/>
                <c:pt idx="0">
                  <c:v>2.45</c:v>
                </c:pt>
                <c:pt idx="1">
                  <c:v>2.18</c:v>
                </c:pt>
                <c:pt idx="2">
                  <c:v>1.93</c:v>
                </c:pt>
                <c:pt idx="3">
                  <c:v>1.68</c:v>
                </c:pt>
                <c:pt idx="4">
                  <c:v>1.41</c:v>
                </c:pt>
                <c:pt idx="5">
                  <c:v>1.11</c:v>
                </c:pt>
              </c:numCache>
            </c:numRef>
          </c:val>
          <c:smooth val="0"/>
        </c:ser>
        <c:ser>
          <c:idx val="9"/>
          <c:order val="9"/>
          <c:tx>
            <c:strRef>
              <c:f>Sheet1!$K$1</c:f>
              <c:strCache>
                <c:ptCount val="1"/>
                <c:pt idx="0">
                  <c:v>Run 10</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Sheet1!$K$2:$K$7</c:f>
              <c:numCache>
                <c:formatCode>General</c:formatCode>
                <c:ptCount val="6"/>
                <c:pt idx="0">
                  <c:v>2.45</c:v>
                </c:pt>
                <c:pt idx="1">
                  <c:v>1.76</c:v>
                </c:pt>
                <c:pt idx="2">
                  <c:v>1.49</c:v>
                </c:pt>
                <c:pt idx="3">
                  <c:v>0.93</c:v>
                </c:pt>
                <c:pt idx="4">
                  <c:v>0.58</c:v>
                </c:pt>
                <c:pt idx="5">
                  <c:v>0.12</c:v>
                </c:pt>
              </c:numCache>
            </c:numRef>
          </c:val>
          <c:smooth val="0"/>
        </c:ser>
        <c:ser>
          <c:idx val="10"/>
          <c:order val="10"/>
          <c:tx>
            <c:strRef>
              <c:f>Sheet1!$L$1</c:f>
              <c:strCache>
                <c:ptCount val="1"/>
                <c:pt idx="0">
                  <c:v>Run 11</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Sheet1!$L$2:$L$7</c:f>
              <c:numCache>
                <c:formatCode>General</c:formatCode>
                <c:ptCount val="6"/>
                <c:pt idx="0">
                  <c:v>2.45</c:v>
                </c:pt>
                <c:pt idx="1">
                  <c:v>2.2</c:v>
                </c:pt>
                <c:pt idx="2">
                  <c:v>1.83</c:v>
                </c:pt>
                <c:pt idx="3">
                  <c:v>1.55</c:v>
                </c:pt>
                <c:pt idx="4">
                  <c:v>1.26</c:v>
                </c:pt>
                <c:pt idx="5">
                  <c:v>0.82</c:v>
                </c:pt>
              </c:numCache>
            </c:numRef>
          </c:val>
          <c:smooth val="0"/>
        </c:ser>
        <c:ser>
          <c:idx val="11"/>
          <c:order val="11"/>
          <c:tx>
            <c:strRef>
              <c:f>Sheet1!$M$1</c:f>
              <c:strCache>
                <c:ptCount val="1"/>
                <c:pt idx="0">
                  <c:v>Run 12</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Sheet1!$M$2:$M$7</c:f>
              <c:numCache>
                <c:formatCode>General</c:formatCode>
                <c:ptCount val="6"/>
                <c:pt idx="0">
                  <c:v>2.45</c:v>
                </c:pt>
                <c:pt idx="1">
                  <c:v>2.07</c:v>
                </c:pt>
                <c:pt idx="2">
                  <c:v>1.7</c:v>
                </c:pt>
                <c:pt idx="3">
                  <c:v>1.16</c:v>
                </c:pt>
                <c:pt idx="4">
                  <c:v>0.72</c:v>
                </c:pt>
                <c:pt idx="5">
                  <c:v>0.12</c:v>
                </c:pt>
              </c:numCache>
            </c:numRef>
          </c:val>
          <c:smooth val="0"/>
        </c:ser>
        <c:ser>
          <c:idx val="12"/>
          <c:order val="12"/>
          <c:tx>
            <c:strRef>
              <c:f>Sheet1!$N$1</c:f>
              <c:strCache>
                <c:ptCount val="1"/>
                <c:pt idx="0">
                  <c:v>Run 13</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Sheet1!$N$2:$N$7</c:f>
              <c:numCache>
                <c:formatCode>General</c:formatCode>
                <c:ptCount val="6"/>
                <c:pt idx="0">
                  <c:v>2.45</c:v>
                </c:pt>
                <c:pt idx="1">
                  <c:v>2.17</c:v>
                </c:pt>
                <c:pt idx="2">
                  <c:v>1.8</c:v>
                </c:pt>
                <c:pt idx="3">
                  <c:v>1.03</c:v>
                </c:pt>
                <c:pt idx="4">
                  <c:v>0.48</c:v>
                </c:pt>
                <c:pt idx="5">
                  <c:v>0.02</c:v>
                </c:pt>
              </c:numCache>
            </c:numRef>
          </c:val>
          <c:smooth val="0"/>
        </c:ser>
        <c:ser>
          <c:idx val="13"/>
          <c:order val="13"/>
          <c:tx>
            <c:strRef>
              <c:f>Sheet1!$O$1</c:f>
              <c:strCache>
                <c:ptCount val="1"/>
                <c:pt idx="0">
                  <c:v>Run 14</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Sheet1!$O$2:$O$7</c:f>
              <c:numCache>
                <c:formatCode>General</c:formatCode>
                <c:ptCount val="6"/>
                <c:pt idx="0">
                  <c:v>2.45</c:v>
                </c:pt>
                <c:pt idx="1">
                  <c:v>2.09</c:v>
                </c:pt>
                <c:pt idx="2">
                  <c:v>1.73</c:v>
                </c:pt>
                <c:pt idx="3">
                  <c:v>1.31</c:v>
                </c:pt>
                <c:pt idx="4">
                  <c:v>0.91</c:v>
                </c:pt>
                <c:pt idx="5">
                  <c:v>0.4</c:v>
                </c:pt>
              </c:numCache>
            </c:numRef>
          </c:val>
          <c:smooth val="0"/>
        </c:ser>
        <c:ser>
          <c:idx val="14"/>
          <c:order val="14"/>
          <c:tx>
            <c:strRef>
              <c:f>Sheet1!$P$1</c:f>
              <c:strCache>
                <c:ptCount val="1"/>
                <c:pt idx="0">
                  <c:v>Run 15</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Sheet1!$P$2:$P$7</c:f>
              <c:numCache>
                <c:formatCode>General</c:formatCode>
                <c:ptCount val="6"/>
                <c:pt idx="0">
                  <c:v>2.45</c:v>
                </c:pt>
                <c:pt idx="1">
                  <c:v>2.23</c:v>
                </c:pt>
                <c:pt idx="2">
                  <c:v>1.84</c:v>
                </c:pt>
                <c:pt idx="3">
                  <c:v>1.44</c:v>
                </c:pt>
                <c:pt idx="4">
                  <c:v>0.68</c:v>
                </c:pt>
                <c:pt idx="5">
                  <c:v>0.22</c:v>
                </c:pt>
              </c:numCache>
            </c:numRef>
          </c:val>
          <c:smooth val="0"/>
        </c:ser>
        <c:ser>
          <c:idx val="15"/>
          <c:order val="15"/>
          <c:tx>
            <c:strRef>
              <c:f>Sheet1!$Q$1</c:f>
              <c:strCache>
                <c:ptCount val="1"/>
                <c:pt idx="0">
                  <c:v>Run 16</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Sheet1!$Q$2:$Q$7</c:f>
              <c:numCache>
                <c:formatCode>General</c:formatCode>
                <c:ptCount val="6"/>
                <c:pt idx="0">
                  <c:v>2.45</c:v>
                </c:pt>
                <c:pt idx="1">
                  <c:v>2.23</c:v>
                </c:pt>
                <c:pt idx="2">
                  <c:v>1.93</c:v>
                </c:pt>
                <c:pt idx="3">
                  <c:v>1.16</c:v>
                </c:pt>
                <c:pt idx="4">
                  <c:v>0.87</c:v>
                </c:pt>
                <c:pt idx="5">
                  <c:v>0.14</c:v>
                </c:pt>
              </c:numCache>
            </c:numRef>
          </c:val>
          <c:smooth val="0"/>
        </c:ser>
        <c:ser>
          <c:idx val="16"/>
          <c:order val="16"/>
          <c:tx>
            <c:strRef>
              <c:f>Sheet1!$R$1</c:f>
              <c:strCache>
                <c:ptCount val="1"/>
                <c:pt idx="0">
                  <c:v>Run 17</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Sheet1!$R$2:$R$7</c:f>
              <c:numCache>
                <c:formatCode>General</c:formatCode>
                <c:ptCount val="6"/>
                <c:pt idx="0">
                  <c:v>2.45</c:v>
                </c:pt>
                <c:pt idx="1">
                  <c:v>2.07</c:v>
                </c:pt>
                <c:pt idx="2">
                  <c:v>1.69</c:v>
                </c:pt>
                <c:pt idx="3">
                  <c:v>1.27</c:v>
                </c:pt>
                <c:pt idx="4">
                  <c:v>0.64</c:v>
                </c:pt>
                <c:pt idx="5">
                  <c:v>0.08</c:v>
                </c:pt>
              </c:numCache>
            </c:numRef>
          </c:val>
          <c:smooth val="0"/>
        </c:ser>
        <c:ser>
          <c:idx val="17"/>
          <c:order val="17"/>
          <c:tx>
            <c:strRef>
              <c:f>Sheet1!$S$1</c:f>
              <c:strCache>
                <c:ptCount val="1"/>
                <c:pt idx="0">
                  <c:v>Run 18</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Sheet1!$S$2:$S$7</c:f>
              <c:numCache>
                <c:formatCode>General</c:formatCode>
                <c:ptCount val="6"/>
                <c:pt idx="0">
                  <c:v>2.45</c:v>
                </c:pt>
                <c:pt idx="1">
                  <c:v>2.17</c:v>
                </c:pt>
                <c:pt idx="2">
                  <c:v>1.9</c:v>
                </c:pt>
                <c:pt idx="3">
                  <c:v>1.65</c:v>
                </c:pt>
                <c:pt idx="4">
                  <c:v>1.27</c:v>
                </c:pt>
                <c:pt idx="5">
                  <c:v>0.67</c:v>
                </c:pt>
              </c:numCache>
            </c:numRef>
          </c:val>
          <c:smooth val="0"/>
        </c:ser>
        <c:ser>
          <c:idx val="18"/>
          <c:order val="18"/>
          <c:tx>
            <c:strRef>
              <c:f>Sheet1!$T$1</c:f>
              <c:strCache>
                <c:ptCount val="1"/>
                <c:pt idx="0">
                  <c:v>Run 19</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Sheet1!$T$2:$T$7</c:f>
              <c:numCache>
                <c:formatCode>General</c:formatCode>
                <c:ptCount val="6"/>
                <c:pt idx="0">
                  <c:v>2.45</c:v>
                </c:pt>
                <c:pt idx="1">
                  <c:v>2.09</c:v>
                </c:pt>
                <c:pt idx="2">
                  <c:v>1.87</c:v>
                </c:pt>
                <c:pt idx="3">
                  <c:v>1.44</c:v>
                </c:pt>
                <c:pt idx="4">
                  <c:v>1.06</c:v>
                </c:pt>
                <c:pt idx="5">
                  <c:v>0.33</c:v>
                </c:pt>
              </c:numCache>
            </c:numRef>
          </c:val>
          <c:smooth val="0"/>
        </c:ser>
        <c:ser>
          <c:idx val="19"/>
          <c:order val="19"/>
          <c:tx>
            <c:strRef>
              <c:f>Sheet1!$U$1</c:f>
              <c:strCache>
                <c:ptCount val="1"/>
                <c:pt idx="0">
                  <c:v>Run 20</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Sheet1!$U$2:$U$7</c:f>
              <c:numCache>
                <c:formatCode>General</c:formatCode>
                <c:ptCount val="6"/>
                <c:pt idx="0">
                  <c:v>2.45</c:v>
                </c:pt>
                <c:pt idx="1">
                  <c:v>1.76</c:v>
                </c:pt>
                <c:pt idx="2">
                  <c:v>1.07</c:v>
                </c:pt>
                <c:pt idx="3">
                  <c:v>0.51</c:v>
                </c:pt>
                <c:pt idx="4">
                  <c:v>0.12</c:v>
                </c:pt>
                <c:pt idx="5">
                  <c:v>0</c:v>
                </c:pt>
              </c:numCache>
            </c:numRef>
          </c:val>
          <c:smooth val="0"/>
        </c:ser>
        <c:ser>
          <c:idx val="20"/>
          <c:order val="20"/>
          <c:tx>
            <c:strRef>
              <c:f>Sheet1!$V$1</c:f>
              <c:strCache>
                <c:ptCount val="1"/>
                <c:pt idx="0">
                  <c:v>Run 21</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Sheet1!$V$2:$V$7</c:f>
              <c:numCache>
                <c:formatCode>General</c:formatCode>
                <c:ptCount val="6"/>
                <c:pt idx="0">
                  <c:v>2.45</c:v>
                </c:pt>
                <c:pt idx="1">
                  <c:v>2.07</c:v>
                </c:pt>
                <c:pt idx="2">
                  <c:v>1.38</c:v>
                </c:pt>
                <c:pt idx="3">
                  <c:v>0.96</c:v>
                </c:pt>
                <c:pt idx="4">
                  <c:v>0.54</c:v>
                </c:pt>
                <c:pt idx="5">
                  <c:v>0</c:v>
                </c:pt>
              </c:numCache>
            </c:numRef>
          </c:val>
          <c:smooth val="0"/>
        </c:ser>
        <c:ser>
          <c:idx val="21"/>
          <c:order val="21"/>
          <c:tx>
            <c:strRef>
              <c:f>Sheet1!$W$1</c:f>
              <c:strCache>
                <c:ptCount val="1"/>
                <c:pt idx="0">
                  <c:v>Run 22</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Sheet1!$W$2:$W$7</c:f>
              <c:numCache>
                <c:formatCode>General</c:formatCode>
                <c:ptCount val="6"/>
                <c:pt idx="0">
                  <c:v>2.45</c:v>
                </c:pt>
                <c:pt idx="1">
                  <c:v>2</c:v>
                </c:pt>
                <c:pt idx="2">
                  <c:v>1.74</c:v>
                </c:pt>
                <c:pt idx="3">
                  <c:v>1.32</c:v>
                </c:pt>
                <c:pt idx="4">
                  <c:v>0.93</c:v>
                </c:pt>
                <c:pt idx="5">
                  <c:v>0.47</c:v>
                </c:pt>
              </c:numCache>
            </c:numRef>
          </c:val>
          <c:smooth val="0"/>
        </c:ser>
        <c:ser>
          <c:idx val="22"/>
          <c:order val="22"/>
          <c:tx>
            <c:strRef>
              <c:f>Sheet1!$X$1</c:f>
              <c:strCache>
                <c:ptCount val="1"/>
                <c:pt idx="0">
                  <c:v>Run 23</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Sheet1!$X$2:$X$7</c:f>
              <c:numCache>
                <c:formatCode>General</c:formatCode>
                <c:ptCount val="6"/>
                <c:pt idx="0">
                  <c:v>2.45</c:v>
                </c:pt>
                <c:pt idx="1">
                  <c:v>2.1</c:v>
                </c:pt>
                <c:pt idx="2">
                  <c:v>1.36</c:v>
                </c:pt>
                <c:pt idx="3">
                  <c:v>0.97</c:v>
                </c:pt>
                <c:pt idx="4">
                  <c:v>0.57</c:v>
                </c:pt>
                <c:pt idx="5">
                  <c:v>0</c:v>
                </c:pt>
              </c:numCache>
            </c:numRef>
          </c:val>
          <c:smooth val="0"/>
        </c:ser>
        <c:ser>
          <c:idx val="23"/>
          <c:order val="23"/>
          <c:tx>
            <c:strRef>
              <c:f>Sheet1!$Y$1</c:f>
              <c:strCache>
                <c:ptCount val="1"/>
                <c:pt idx="0">
                  <c:v>Run 24</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Sheet1!$Y$2:$Y$7</c:f>
              <c:numCache>
                <c:formatCode>General</c:formatCode>
                <c:ptCount val="6"/>
                <c:pt idx="0">
                  <c:v>2.45</c:v>
                </c:pt>
                <c:pt idx="1">
                  <c:v>2.2</c:v>
                </c:pt>
                <c:pt idx="2">
                  <c:v>1.83</c:v>
                </c:pt>
                <c:pt idx="3">
                  <c:v>1.18</c:v>
                </c:pt>
                <c:pt idx="4">
                  <c:v>0.9</c:v>
                </c:pt>
                <c:pt idx="5">
                  <c:v>0.44</c:v>
                </c:pt>
              </c:numCache>
            </c:numRef>
          </c:val>
          <c:smooth val="0"/>
        </c:ser>
        <c:ser>
          <c:idx val="24"/>
          <c:order val="24"/>
          <c:tx>
            <c:strRef>
              <c:f>Sheet1!$Z$1</c:f>
              <c:strCache>
                <c:ptCount val="1"/>
                <c:pt idx="0">
                  <c:v>Run 25</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Sheet1!$Z$2:$Z$7</c:f>
              <c:numCache>
                <c:formatCode>General</c:formatCode>
                <c:ptCount val="6"/>
                <c:pt idx="0">
                  <c:v>2.45</c:v>
                </c:pt>
                <c:pt idx="1">
                  <c:v>2</c:v>
                </c:pt>
                <c:pt idx="2">
                  <c:v>1.55</c:v>
                </c:pt>
                <c:pt idx="3">
                  <c:v>1.27</c:v>
                </c:pt>
                <c:pt idx="4">
                  <c:v>0.64</c:v>
                </c:pt>
                <c:pt idx="5">
                  <c:v>0.36</c:v>
                </c:pt>
              </c:numCache>
            </c:numRef>
          </c:val>
          <c:smooth val="0"/>
        </c:ser>
        <c:ser>
          <c:idx val="25"/>
          <c:order val="25"/>
          <c:tx>
            <c:strRef>
              <c:f>Sheet1!$AA$1</c:f>
              <c:strCache>
                <c:ptCount val="1"/>
                <c:pt idx="0">
                  <c:v>Run 26</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Sheet1!$AA$2:$AA$7</c:f>
              <c:numCache>
                <c:formatCode>General</c:formatCode>
                <c:ptCount val="6"/>
                <c:pt idx="0">
                  <c:v>2.45</c:v>
                </c:pt>
                <c:pt idx="1">
                  <c:v>2.18</c:v>
                </c:pt>
                <c:pt idx="2">
                  <c:v>1.83</c:v>
                </c:pt>
                <c:pt idx="3">
                  <c:v>1.44</c:v>
                </c:pt>
                <c:pt idx="4">
                  <c:v>1.03</c:v>
                </c:pt>
                <c:pt idx="5">
                  <c:v>0.59</c:v>
                </c:pt>
              </c:numCache>
            </c:numRef>
          </c:val>
          <c:smooth val="0"/>
        </c:ser>
        <c:ser>
          <c:idx val="26"/>
          <c:order val="26"/>
          <c:tx>
            <c:strRef>
              <c:f>Sheet1!$AB$1</c:f>
              <c:strCache>
                <c:ptCount val="1"/>
                <c:pt idx="0">
                  <c:v>Run 27</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Sheet1!$AB$2:$AB$7</c:f>
              <c:numCache>
                <c:formatCode>General</c:formatCode>
                <c:ptCount val="6"/>
                <c:pt idx="0">
                  <c:v>2.45</c:v>
                </c:pt>
                <c:pt idx="1">
                  <c:v>1.97</c:v>
                </c:pt>
                <c:pt idx="2">
                  <c:v>1.6</c:v>
                </c:pt>
                <c:pt idx="3">
                  <c:v>1.24</c:v>
                </c:pt>
                <c:pt idx="4">
                  <c:v>0.82</c:v>
                </c:pt>
                <c:pt idx="5">
                  <c:v>0.51</c:v>
                </c:pt>
              </c:numCache>
            </c:numRef>
          </c:val>
          <c:smooth val="0"/>
        </c:ser>
        <c:ser>
          <c:idx val="27"/>
          <c:order val="27"/>
          <c:tx>
            <c:strRef>
              <c:f>Sheet1!$AC$1</c:f>
              <c:strCache>
                <c:ptCount val="1"/>
                <c:pt idx="0">
                  <c:v>Run 28</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Sheet1!$AC$2:$AC$7</c:f>
              <c:numCache>
                <c:formatCode>General</c:formatCode>
                <c:ptCount val="6"/>
                <c:pt idx="0">
                  <c:v>2.45</c:v>
                </c:pt>
                <c:pt idx="1">
                  <c:v>2.16</c:v>
                </c:pt>
                <c:pt idx="2">
                  <c:v>1.8</c:v>
                </c:pt>
                <c:pt idx="3">
                  <c:v>0.98</c:v>
                </c:pt>
                <c:pt idx="4">
                  <c:v>0.69</c:v>
                </c:pt>
                <c:pt idx="5">
                  <c:v>0.24</c:v>
                </c:pt>
              </c:numCache>
            </c:numRef>
          </c:val>
          <c:smooth val="0"/>
        </c:ser>
        <c:ser>
          <c:idx val="28"/>
          <c:order val="28"/>
          <c:tx>
            <c:strRef>
              <c:f>Sheet1!$AD$1</c:f>
              <c:strCache>
                <c:ptCount val="1"/>
                <c:pt idx="0">
                  <c:v>Run 29</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Sheet1!$AD$2:$AD$7</c:f>
              <c:numCache>
                <c:formatCode>General</c:formatCode>
                <c:ptCount val="6"/>
                <c:pt idx="0">
                  <c:v>2.45</c:v>
                </c:pt>
                <c:pt idx="1">
                  <c:v>2.08</c:v>
                </c:pt>
                <c:pt idx="2">
                  <c:v>1.86</c:v>
                </c:pt>
                <c:pt idx="3">
                  <c:v>1.2</c:v>
                </c:pt>
                <c:pt idx="4">
                  <c:v>0.57</c:v>
                </c:pt>
                <c:pt idx="5">
                  <c:v>0</c:v>
                </c:pt>
              </c:numCache>
            </c:numRef>
          </c:val>
          <c:smooth val="0"/>
        </c:ser>
        <c:ser>
          <c:idx val="29"/>
          <c:order val="29"/>
          <c:tx>
            <c:strRef>
              <c:f>Sheet1!$AE$1</c:f>
              <c:strCache>
                <c:ptCount val="1"/>
                <c:pt idx="0">
                  <c:v>Run 30</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Sheet1!$AE$2:$AE$7</c:f>
              <c:numCache>
                <c:formatCode>General</c:formatCode>
                <c:ptCount val="6"/>
                <c:pt idx="0">
                  <c:v>2.45</c:v>
                </c:pt>
                <c:pt idx="1">
                  <c:v>1.96</c:v>
                </c:pt>
                <c:pt idx="2">
                  <c:v>1.67</c:v>
                </c:pt>
                <c:pt idx="3">
                  <c:v>1.39</c:v>
                </c:pt>
                <c:pt idx="4">
                  <c:v>1.14</c:v>
                </c:pt>
                <c:pt idx="5">
                  <c:v>0.58</c:v>
                </c:pt>
              </c:numCache>
            </c:numRef>
          </c:val>
          <c:smooth val="0"/>
        </c:ser>
        <c:ser>
          <c:idx val="30"/>
          <c:order val="30"/>
          <c:tx>
            <c:strRef>
              <c:f>Sheet1!$AF$1</c:f>
              <c:strCache>
                <c:ptCount val="1"/>
                <c:pt idx="0">
                  <c:v>Run 31</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Sheet1!$AF$2:$AF$7</c:f>
              <c:numCache>
                <c:formatCode>General</c:formatCode>
                <c:ptCount val="6"/>
                <c:pt idx="0">
                  <c:v>2.45</c:v>
                </c:pt>
                <c:pt idx="1">
                  <c:v>2.09</c:v>
                </c:pt>
                <c:pt idx="2">
                  <c:v>1.73</c:v>
                </c:pt>
                <c:pt idx="3">
                  <c:v>1.31</c:v>
                </c:pt>
                <c:pt idx="4">
                  <c:v>1.02</c:v>
                </c:pt>
                <c:pt idx="5">
                  <c:v>0.5</c:v>
                </c:pt>
              </c:numCache>
            </c:numRef>
          </c:val>
          <c:smooth val="0"/>
        </c:ser>
        <c:ser>
          <c:idx val="31"/>
          <c:order val="31"/>
          <c:tx>
            <c:strRef>
              <c:f>Sheet1!$AG$1</c:f>
              <c:strCache>
                <c:ptCount val="1"/>
                <c:pt idx="0">
                  <c:v>Run 32</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Sheet1!$AG$2:$AG$7</c:f>
              <c:numCache>
                <c:formatCode>General</c:formatCode>
                <c:ptCount val="6"/>
                <c:pt idx="0">
                  <c:v>2.45</c:v>
                </c:pt>
                <c:pt idx="1">
                  <c:v>1.86</c:v>
                </c:pt>
                <c:pt idx="2">
                  <c:v>1.61</c:v>
                </c:pt>
                <c:pt idx="3">
                  <c:v>1.22</c:v>
                </c:pt>
                <c:pt idx="4">
                  <c:v>0.68</c:v>
                </c:pt>
                <c:pt idx="5">
                  <c:v>0.12</c:v>
                </c:pt>
              </c:numCache>
            </c:numRef>
          </c:val>
          <c:smooth val="0"/>
        </c:ser>
        <c:ser>
          <c:idx val="32"/>
          <c:order val="32"/>
          <c:tx>
            <c:strRef>
              <c:f>Sheet1!$AH$1</c:f>
              <c:strCache>
                <c:ptCount val="1"/>
                <c:pt idx="0">
                  <c:v>Run 33</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Sheet1!$AH$2:$AH$7</c:f>
              <c:numCache>
                <c:formatCode>General</c:formatCode>
                <c:ptCount val="6"/>
                <c:pt idx="0">
                  <c:v>2.45</c:v>
                </c:pt>
                <c:pt idx="1">
                  <c:v>1.95</c:v>
                </c:pt>
                <c:pt idx="2">
                  <c:v>1.21</c:v>
                </c:pt>
                <c:pt idx="3">
                  <c:v>0.85</c:v>
                </c:pt>
                <c:pt idx="4">
                  <c:v>0.43</c:v>
                </c:pt>
                <c:pt idx="5">
                  <c:v>0</c:v>
                </c:pt>
              </c:numCache>
            </c:numRef>
          </c:val>
          <c:smooth val="0"/>
        </c:ser>
        <c:ser>
          <c:idx val="33"/>
          <c:order val="33"/>
          <c:tx>
            <c:strRef>
              <c:f>Sheet1!$AI$1</c:f>
              <c:strCache>
                <c:ptCount val="1"/>
                <c:pt idx="0">
                  <c:v>Run 34</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Sheet1!$AI$2:$AI$7</c:f>
              <c:numCache>
                <c:formatCode>General</c:formatCode>
                <c:ptCount val="6"/>
                <c:pt idx="0">
                  <c:v>2.45</c:v>
                </c:pt>
                <c:pt idx="1">
                  <c:v>1.86</c:v>
                </c:pt>
                <c:pt idx="2">
                  <c:v>1.55</c:v>
                </c:pt>
                <c:pt idx="3">
                  <c:v>1.14</c:v>
                </c:pt>
                <c:pt idx="4">
                  <c:v>0.72</c:v>
                </c:pt>
                <c:pt idx="5">
                  <c:v>0.36</c:v>
                </c:pt>
              </c:numCache>
            </c:numRef>
          </c:val>
          <c:smooth val="0"/>
        </c:ser>
        <c:ser>
          <c:idx val="34"/>
          <c:order val="34"/>
          <c:tx>
            <c:strRef>
              <c:f>Sheet1!$AJ$1</c:f>
              <c:strCache>
                <c:ptCount val="1"/>
                <c:pt idx="0">
                  <c:v>Run 35</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Sheet1!$AJ$2:$AJ$7</c:f>
              <c:numCache>
                <c:formatCode>General</c:formatCode>
                <c:ptCount val="6"/>
                <c:pt idx="0">
                  <c:v>2.45</c:v>
                </c:pt>
                <c:pt idx="1">
                  <c:v>1.86</c:v>
                </c:pt>
                <c:pt idx="2">
                  <c:v>1.62</c:v>
                </c:pt>
                <c:pt idx="3">
                  <c:v>1.23</c:v>
                </c:pt>
                <c:pt idx="4">
                  <c:v>0.7</c:v>
                </c:pt>
                <c:pt idx="5">
                  <c:v>0.26</c:v>
                </c:pt>
              </c:numCache>
            </c:numRef>
          </c:val>
          <c:smooth val="0"/>
        </c:ser>
        <c:ser>
          <c:idx val="35"/>
          <c:order val="35"/>
          <c:tx>
            <c:strRef>
              <c:f>Sheet1!$AK$1</c:f>
              <c:strCache>
                <c:ptCount val="1"/>
                <c:pt idx="0">
                  <c:v>Run 36</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Sheet1!$AK$2:$AK$7</c:f>
              <c:numCache>
                <c:formatCode>General</c:formatCode>
                <c:ptCount val="6"/>
                <c:pt idx="0">
                  <c:v>2.45</c:v>
                </c:pt>
                <c:pt idx="1">
                  <c:v>2.1</c:v>
                </c:pt>
                <c:pt idx="2">
                  <c:v>1.78</c:v>
                </c:pt>
                <c:pt idx="3">
                  <c:v>1</c:v>
                </c:pt>
                <c:pt idx="4">
                  <c:v>0.46</c:v>
                </c:pt>
                <c:pt idx="5">
                  <c:v>0</c:v>
                </c:pt>
              </c:numCache>
            </c:numRef>
          </c:val>
          <c:smooth val="0"/>
        </c:ser>
        <c:ser>
          <c:idx val="36"/>
          <c:order val="36"/>
          <c:tx>
            <c:strRef>
              <c:f>Sheet1!$AL$1</c:f>
              <c:strCache>
                <c:ptCount val="1"/>
                <c:pt idx="0">
                  <c:v>Run 37</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Sheet1!$AL$2:$AL$7</c:f>
              <c:numCache>
                <c:formatCode>General</c:formatCode>
                <c:ptCount val="6"/>
                <c:pt idx="0">
                  <c:v>2.45</c:v>
                </c:pt>
                <c:pt idx="1">
                  <c:v>1.76</c:v>
                </c:pt>
                <c:pt idx="2">
                  <c:v>1.35</c:v>
                </c:pt>
                <c:pt idx="3">
                  <c:v>1.05</c:v>
                </c:pt>
                <c:pt idx="4">
                  <c:v>0.7</c:v>
                </c:pt>
                <c:pt idx="5">
                  <c:v>0.26</c:v>
                </c:pt>
              </c:numCache>
            </c:numRef>
          </c:val>
          <c:smooth val="0"/>
        </c:ser>
        <c:ser>
          <c:idx val="37"/>
          <c:order val="37"/>
          <c:tx>
            <c:strRef>
              <c:f>Sheet1!$AM$1</c:f>
              <c:strCache>
                <c:ptCount val="1"/>
                <c:pt idx="0">
                  <c:v>Run 38</c:v>
                </c:pt>
              </c:strCache>
            </c:strRef>
          </c:tx>
          <c:spPr>
            <a:solidFill>
              <a:srgbClr val="0E7C63"/>
            </a:solidFill>
            <a:ln w="12700" cap="flat">
              <a:solidFill>
                <a:srgbClr val="0E7C63"/>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63"/>
              </a:solidFill>
              <a:ln w="9525" cap="flat">
                <a:solidFill>
                  <a:srgbClr val="0E7C63"/>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Sheet1!$AM$2:$AM$7</c:f>
              <c:numCache>
                <c:formatCode>General</c:formatCode>
                <c:ptCount val="6"/>
                <c:pt idx="0">
                  <c:v>2.45</c:v>
                </c:pt>
                <c:pt idx="1">
                  <c:v>2.1</c:v>
                </c:pt>
                <c:pt idx="2">
                  <c:v>1.62</c:v>
                </c:pt>
                <c:pt idx="3">
                  <c:v>0.97</c:v>
                </c:pt>
                <c:pt idx="4">
                  <c:v>0.22</c:v>
                </c:pt>
                <c:pt idx="5">
                  <c:v>0</c:v>
                </c:pt>
              </c:numCache>
            </c:numRef>
          </c:val>
          <c:smooth val="0"/>
        </c:ser>
        <c:ser>
          <c:idx val="38"/>
          <c:order val="38"/>
          <c:tx>
            <c:strRef>
              <c:f>Sheet1!$AN$1</c:f>
              <c:strCache>
                <c:ptCount val="1"/>
                <c:pt idx="0">
                  <c:v>Run 39</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Sheet1!$AN$2:$AN$7</c:f>
              <c:numCache>
                <c:formatCode>General</c:formatCode>
                <c:ptCount val="6"/>
                <c:pt idx="0">
                  <c:v>2.45</c:v>
                </c:pt>
                <c:pt idx="1">
                  <c:v>2.04</c:v>
                </c:pt>
                <c:pt idx="2">
                  <c:v>1.54</c:v>
                </c:pt>
                <c:pt idx="3">
                  <c:v>1.12</c:v>
                </c:pt>
                <c:pt idx="4">
                  <c:v>0.8</c:v>
                </c:pt>
                <c:pt idx="5">
                  <c:v>0.19</c:v>
                </c:pt>
              </c:numCache>
            </c:numRef>
          </c:val>
          <c:smooth val="0"/>
        </c:ser>
        <c:ser>
          <c:idx val="39"/>
          <c:order val="39"/>
          <c:tx>
            <c:strRef>
              <c:f>Sheet1!$AO$1</c:f>
              <c:strCache>
                <c:ptCount val="1"/>
                <c:pt idx="0">
                  <c:v>Run 40</c:v>
                </c:pt>
              </c:strCache>
            </c:strRef>
          </c:tx>
          <c:spPr>
            <a:solidFill>
              <a:srgbClr val="C4471A"/>
            </a:solidFill>
            <a:ln w="12700" cap="flat">
              <a:solidFill>
                <a:srgbClr val="C4471A"/>
              </a:solidFill>
              <a:prstDash val="solid"/>
              <a:round/>
            </a:ln>
            <a:effectLst/>
          </c:spPr>
          <c:invertIfNegative val="0"/>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4471A"/>
              </a:solidFill>
              <a:ln w="9525" cap="flat">
                <a:solidFill>
                  <a:srgbClr val="C4471A"/>
                </a:solidFill>
                <a:prstDash val="solid"/>
                <a:round/>
              </a:ln>
              <a:effectLst/>
            </c:spPr>
          </c:marker>
          <c:cat>
            <c:multiLvlStrRef>
              <c:f>Sheet1!$A$2:$A$7</c:f>
              <c:multiLvlStrCache>
                <c:ptCount val="6"/>
                <c:lvl>
                  <c:pt idx="0">
                    <c:v>Now</c:v>
                  </c:pt>
                  <c:pt idx="1">
                    <c:v>Tue</c:v>
                  </c:pt>
                  <c:pt idx="2">
                    <c:v>Wed</c:v>
                  </c:pt>
                  <c:pt idx="3">
                    <c:v>Thu</c:v>
                  </c:pt>
                  <c:pt idx="4">
                    <c:v>Fri</c:v>
                  </c:pt>
                  <c:pt idx="5">
                    <c:v>Sat exp.</c:v>
                  </c:pt>
                </c:lvl>
              </c:multiLvlStrCache>
            </c:multiLvlStrRef>
          </c:cat>
          <c:val>
            <c:numRef>
              <c:f>Sheet1!$AO$2:$AO$7</c:f>
              <c:numCache>
                <c:formatCode>General</c:formatCode>
                <c:ptCount val="6"/>
                <c:pt idx="0">
                  <c:v>2.45</c:v>
                </c:pt>
                <c:pt idx="1">
                  <c:v>2.19</c:v>
                </c:pt>
                <c:pt idx="2">
                  <c:v>1.61</c:v>
                </c:pt>
                <c:pt idx="3">
                  <c:v>1.2</c:v>
                </c:pt>
                <c:pt idx="4">
                  <c:v>0.8</c:v>
                </c:pt>
                <c:pt idx="5">
                  <c:v>0.36</c:v>
                </c:pt>
              </c:numCache>
            </c:numRef>
          </c:val>
          <c:smooth val="0"/>
        </c:ser>
        <c:dLbls>
          <c:numFmt formatCode="#,##0" sourceLinked="0"/>
          <c:txPr>
            <a:bodyPr wrap="none"/>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9B6B0"/>
            </a:solidFill>
            <a:prstDash val="solid"/>
            <a:round/>
          </a:ln>
        </c:spPr>
        <c:txPr>
          <a:bodyPr/>
          <a:lstStyle/>
          <a:p>
            <a:pPr>
              <a:defRPr sz="1000" b="0" i="0" u="none" strike="noStrike">
                <a:solidFill>
                  <a:srgbClr val="5A6B64"/>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DCE4E0"/>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A6B64"/>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RM / month</c:v>
                </c:pt>
              </c:strCache>
            </c:strRef>
          </c:tx>
          <c:spPr>
            <a:solidFill>
              <a:srgbClr val="C4471A"/>
            </a:solidFill>
            <a:effectLst/>
          </c:spPr>
          <c:invertIfNegative val="0"/>
          <c:dLbls>
            <c:numFmt formatCode="&quot;RM&quot;#,##0" sourceLinked="0"/>
            <c:txPr>
              <a:bodyPr wrap="none"/>
              <a:lstStyle/>
              <a:p>
                <a:pPr>
                  <a:defRPr b="1" i="0" strike="noStrike" sz="1200" u="none">
                    <a:solidFill>
                      <a:srgbClr val="172420"/>
                    </a:solidFill>
                    <a:latin typeface="+mn-lt"/>
                  </a:defRPr>
                </a:pPr>
              </a:p>
            </c:txPr>
            <c:showLegendKey val="0"/>
            <c:showVal val="1"/>
            <c:showCatName val="0"/>
            <c:showSerName val="0"/>
            <c:showPercent val="0"/>
            <c:showBubbleSize val="0"/>
            <c:showLeaderLines val="0"/>
          </c:dLbls>
          <c:dPt>
            <c:idx val="0"/>
            <c:invertIfNegative val="0"/>
            <c:bubble3D val="0"/>
            <c:spPr>
              <a:solidFill>
                <a:srgbClr val="C4471A"/>
              </a:solidFill>
              <a:effectLst/>
            </c:spPr>
          </c:dPt>
          <c:dPt>
            <c:idx val="1"/>
            <c:invertIfNegative val="0"/>
            <c:bubble3D val="0"/>
            <c:spPr>
              <a:solidFill>
                <a:srgbClr val="0E7C63"/>
              </a:solidFill>
              <a:effectLst/>
            </c:spPr>
          </c:dPt>
          <c:cat>
            <c:multiLvlStrRef>
              <c:f>Sheet1!$A$2:$A$3</c:f>
              <c:multiLvlStrCache>
                <c:ptCount val="2"/>
                <c:lvl>
                  <c:pt idx="0">
                    <c:v>Usual order</c:v>
                  </c:pt>
                  <c:pt idx="1">
                    <c:v>Smart order</c:v>
                  </c:pt>
                </c:lvl>
              </c:multiLvlStrCache>
            </c:multiLvlStrRef>
          </c:cat>
          <c:val>
            <c:numRef>
              <c:f>Sheet1!$B$2:$B$3</c:f>
              <c:numCache>
                <c:formatCode>General</c:formatCode>
                <c:ptCount val="2"/>
                <c:pt idx="0">
                  <c:v>713</c:v>
                </c:pt>
                <c:pt idx="1">
                  <c:v>65</c:v>
                </c:pt>
              </c:numCache>
            </c:numRef>
          </c:val>
        </c:ser>
        <c:dLbls>
          <c:numFmt formatCode="&quot;RM&quot;#,##0" sourceLinked="0"/>
          <c:txPr>
            <a:bodyPr wrap="none"/>
            <a:lstStyle/>
            <a:p>
              <a:pPr>
                <a:defRPr b="1" i="0" strike="noStrike" sz="1200" u="none">
                  <a:solidFill>
                    <a:srgbClr val="1724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9B6B0"/>
            </a:solidFill>
            <a:prstDash val="solid"/>
            <a:round/>
          </a:ln>
        </c:spPr>
        <c:txPr>
          <a:bodyPr/>
          <a:lstStyle/>
          <a:p>
            <a:pPr>
              <a:defRPr sz="1000" b="0" i="0" u="none" strike="noStrike">
                <a:solidFill>
                  <a:srgbClr val="5A6B64"/>
                </a:solidFill>
                <a:latin typeface="+mn-lt"/>
              </a:defRPr>
            </a:pPr>
            <a:endParaRPr lang="en-US"/>
          </a:p>
        </c:txPr>
        <c:crossAx val="2094734552"/>
        <c:crosses val="autoZero"/>
        <c:auto val="1"/>
        <c:lblAlgn val="ctr"/>
        <c:noMultiLvlLbl val="1"/>
      </c:catAx>
      <c:valAx>
        <c:axId val="2094734552"/>
        <c:scaling>
          <c:orientation val="minMax"/>
          <c:max val="9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forecast each ingredient from the shop's own sales with a day-of-week moving average, adjusted for public holidays and festive periods. A quantile safety stock sizes the order so it covers demand in about 8 of 10 delivery cycles; the margin is smaller for items that spoil fast. Then a Monte Carlo simulation plays out 1,000 possible weeks, using the earliest-expiring stock first, to give each batch an expiry risk, and replays four weeks of deliveries to compare the usual order with the smart order. One forecast gives three answers: what to order, what to use first, and how much you'll waste.
If asked 'why not order the average?': the average is the middle guess, so about half of weeks are busier and you would run out every second delivery. The quantile buffer uses the forecast's own past errors (actual / forecast over the last 28 days) to cover 8 in 10 cycles, set by a newsvendor trade-off: a missed sale costs ~3x the ingredient, extra stock only costs money if it spoils before the next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02920"/>
          </a:xfrm>
          <a:prstGeom prst="rect">
            <a:avLst/>
          </a:prstGeom>
          <a:noFill/>
          <a:ln/>
        </p:spPr>
        <p:txBody>
          <a:bodyPr wrap="square" rtlCol="0"/>
          <a:lstStyle>
            <a:lvl1pPr indent="0" marL="0">
              <a:buNone/>
              <a:defRPr lang="en-US" sz="2800" b="1" dirty="0">
                <a:solidFill>
                  <a:schemeClr val="tx1"/>
                </a:solidFill>
              </a:defRPr>
            </a:lvl1pPr>
          </a:lstStyle>
          <a:p>
            <a:pPr indent="0" marL="0">
              <a:buNone/>
            </a:pPr>
            <a:endParaRPr lang="en-US" sz="2800" dirty="0"/>
          </a:p>
        </p:txBody>
      </p:sp>
      <p:sp>
        <p:nvSpPr>
          <p:cNvPr id="3" name="Text 0"/>
          <p:cNvSpPr txBox="1"/>
          <p:nvPr/>
        </p:nvSpPr>
        <p:spPr>
          <a:xfrm>
            <a:off x="457200" y="4700016"/>
            <a:ext cx="8229600" cy="256032"/>
          </a:xfrm>
          <a:prstGeom prst="rect">
            <a:avLst/>
          </a:prstGeom>
          <a:noFill/>
          <a:ln/>
        </p:spPr>
        <p:txBody>
          <a:bodyPr wrap="square" lIns="0" tIns="0" rIns="0" bIns="0" rtlCol="0" anchor="ctr"/>
          <a:lstStyle/>
          <a:p>
            <a:pPr indent="0" marL="0">
              <a:buNone/>
            </a:pPr>
            <a:r>
              <a:rPr lang="en-US" sz="1000" dirty="0">
                <a:solidFill>
                  <a:schemeClr val="accent3"/>
                </a:solidFill>
              </a:rPr>
              <a:t>Source: simulated 90-day kopitiam (8 Jul to 5 Oct 2026), 4-week backtest. Re-run on real POS data before quoting externally.</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02920"/>
          </a:xfrm>
          <a:prstGeom prst="rect">
            <a:avLst/>
          </a:prstGeom>
          <a:noFill/>
          <a:ln/>
        </p:spPr>
        <p:txBody>
          <a:bodyPr wrap="square" lIns="0" tIns="0" rIns="0" bIns="0" rtlCol="0" anchor="ctr"/>
          <a:lstStyle/>
          <a:p>
            <a:pPr indent="0" marL="0">
              <a:buNone/>
            </a:pPr>
            <a:r>
              <a:rPr lang="en-US" sz="2800" b="1" dirty="0">
                <a:solidFill>
                  <a:schemeClr val="tx1"/>
                </a:solidFill>
              </a:rPr>
              <a:t>One forecast, three predictions</a:t>
            </a:r>
            <a:endParaRPr lang="en-US" sz="2800" dirty="0"/>
          </a:p>
        </p:txBody>
      </p:sp>
      <p:sp>
        <p:nvSpPr>
          <p:cNvPr id="3" name="chip-0"/>
          <p:cNvSpPr/>
          <p:nvPr/>
        </p:nvSpPr>
        <p:spPr>
          <a:xfrm>
            <a:off x="457200" y="841248"/>
            <a:ext cx="1783080" cy="292608"/>
          </a:xfrm>
          <a:prstGeom prst="roundRect">
            <a:avLst>
              <a:gd name="adj" fmla="val 50000"/>
            </a:avLst>
          </a:prstGeom>
          <a:solidFill>
            <a:schemeClr val="bg2"/>
          </a:solidFill>
          <a:ln w="12700">
            <a:solidFill>
              <a:schemeClr val="bg2"/>
            </a:solidFill>
            <a:prstDash val="solid"/>
          </a:ln>
        </p:spPr>
      </p:sp>
      <p:sp>
        <p:nvSpPr>
          <p:cNvPr id="4" name="chip-text-0"/>
          <p:cNvSpPr txBox="1"/>
          <p:nvPr/>
        </p:nvSpPr>
        <p:spPr>
          <a:xfrm>
            <a:off x="457200" y="841248"/>
            <a:ext cx="1783080" cy="292608"/>
          </a:xfrm>
          <a:prstGeom prst="rect">
            <a:avLst/>
          </a:prstGeom>
          <a:noFill/>
          <a:ln/>
        </p:spPr>
        <p:txBody>
          <a:bodyPr wrap="square" lIns="0" tIns="0" rIns="0" bIns="0" rtlCol="0" anchor="ctr"/>
          <a:lstStyle/>
          <a:p>
            <a:pPr algn="ctr" indent="0" marL="0">
              <a:buNone/>
            </a:pPr>
            <a:r>
              <a:rPr lang="en-US" sz="1200" b="1" dirty="0">
                <a:solidFill>
                  <a:schemeClr val="tx1"/>
                </a:solidFill>
              </a:rPr>
              <a:t>Sales &amp; purchase history</a:t>
            </a:r>
            <a:endParaRPr lang="en-US" sz="1200" dirty="0"/>
          </a:p>
        </p:txBody>
      </p:sp>
      <p:sp>
        <p:nvSpPr>
          <p:cNvPr id="5" name="chip-arrow-0"/>
          <p:cNvSpPr txBox="1"/>
          <p:nvPr/>
        </p:nvSpPr>
        <p:spPr>
          <a:xfrm>
            <a:off x="2240280" y="841248"/>
            <a:ext cx="365760" cy="292608"/>
          </a:xfrm>
          <a:prstGeom prst="rect">
            <a:avLst/>
          </a:prstGeom>
          <a:no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6" name="chip-1"/>
          <p:cNvSpPr/>
          <p:nvPr/>
        </p:nvSpPr>
        <p:spPr>
          <a:xfrm>
            <a:off x="2606040" y="841248"/>
            <a:ext cx="1965960" cy="292608"/>
          </a:xfrm>
          <a:prstGeom prst="roundRect">
            <a:avLst>
              <a:gd name="adj" fmla="val 50000"/>
            </a:avLst>
          </a:prstGeom>
          <a:solidFill>
            <a:schemeClr val="tx2"/>
          </a:solidFill>
          <a:ln w="12700">
            <a:solidFill>
              <a:schemeClr val="tx2"/>
            </a:solidFill>
            <a:prstDash val="solid"/>
          </a:ln>
        </p:spPr>
      </p:sp>
      <p:sp>
        <p:nvSpPr>
          <p:cNvPr id="7" name="chip-text-1"/>
          <p:cNvSpPr txBox="1"/>
          <p:nvPr/>
        </p:nvSpPr>
        <p:spPr>
          <a:xfrm>
            <a:off x="2606040" y="841248"/>
            <a:ext cx="1965960" cy="292608"/>
          </a:xfrm>
          <a:prstGeom prst="rect">
            <a:avLst/>
          </a:prstGeom>
          <a:noFill/>
          <a:ln/>
        </p:spPr>
        <p:txBody>
          <a:bodyPr wrap="square" lIns="0" tIns="0" rIns="0" bIns="0" rtlCol="0" anchor="ctr"/>
          <a:lstStyle/>
          <a:p>
            <a:pPr algn="ctr" indent="0" marL="0">
              <a:buNone/>
            </a:pPr>
            <a:r>
              <a:rPr lang="en-US" sz="1200" b="1" dirty="0">
                <a:solidFill>
                  <a:schemeClr val="bg1"/>
                </a:solidFill>
              </a:rPr>
              <a:t>Day-of-week moving average</a:t>
            </a:r>
            <a:endParaRPr lang="en-US" sz="1200" dirty="0"/>
          </a:p>
        </p:txBody>
      </p:sp>
      <p:sp>
        <p:nvSpPr>
          <p:cNvPr id="8" name="chip-arrow-1"/>
          <p:cNvSpPr txBox="1"/>
          <p:nvPr/>
        </p:nvSpPr>
        <p:spPr>
          <a:xfrm>
            <a:off x="4572000" y="841248"/>
            <a:ext cx="365760" cy="292608"/>
          </a:xfrm>
          <a:prstGeom prst="rect">
            <a:avLst/>
          </a:prstGeom>
          <a:no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9" name="chip-2"/>
          <p:cNvSpPr/>
          <p:nvPr/>
        </p:nvSpPr>
        <p:spPr>
          <a:xfrm>
            <a:off x="4937760" y="841248"/>
            <a:ext cx="1600200" cy="292608"/>
          </a:xfrm>
          <a:prstGeom prst="roundRect">
            <a:avLst>
              <a:gd name="adj" fmla="val 50000"/>
            </a:avLst>
          </a:prstGeom>
          <a:solidFill>
            <a:schemeClr val="tx2"/>
          </a:solidFill>
          <a:ln w="12700">
            <a:solidFill>
              <a:schemeClr val="tx2"/>
            </a:solidFill>
            <a:prstDash val="solid"/>
          </a:ln>
        </p:spPr>
      </p:sp>
      <p:sp>
        <p:nvSpPr>
          <p:cNvPr id="10" name="chip-text-2"/>
          <p:cNvSpPr txBox="1"/>
          <p:nvPr/>
        </p:nvSpPr>
        <p:spPr>
          <a:xfrm>
            <a:off x="4937760" y="841248"/>
            <a:ext cx="1600200" cy="292608"/>
          </a:xfrm>
          <a:prstGeom prst="rect">
            <a:avLst/>
          </a:prstGeom>
          <a:noFill/>
          <a:ln/>
        </p:spPr>
        <p:txBody>
          <a:bodyPr wrap="square" lIns="0" tIns="0" rIns="0" bIns="0" rtlCol="0" anchor="ctr"/>
          <a:lstStyle/>
          <a:p>
            <a:pPr algn="ctr" indent="0" marL="0">
              <a:buNone/>
            </a:pPr>
            <a:r>
              <a:rPr lang="en-US" sz="1200" b="1" dirty="0">
                <a:solidFill>
                  <a:schemeClr val="bg1"/>
                </a:solidFill>
              </a:rPr>
              <a:t>Quantile safety stock</a:t>
            </a:r>
            <a:endParaRPr lang="en-US" sz="1200" dirty="0"/>
          </a:p>
        </p:txBody>
      </p:sp>
      <p:sp>
        <p:nvSpPr>
          <p:cNvPr id="11" name="chip-arrow-2"/>
          <p:cNvSpPr txBox="1"/>
          <p:nvPr/>
        </p:nvSpPr>
        <p:spPr>
          <a:xfrm>
            <a:off x="6537960" y="841248"/>
            <a:ext cx="365760" cy="292608"/>
          </a:xfrm>
          <a:prstGeom prst="rect">
            <a:avLst/>
          </a:prstGeom>
          <a:noFill/>
          <a:ln/>
        </p:spPr>
        <p:txBody>
          <a:bodyPr wrap="square" lIns="0" tIns="0" rIns="0" bIns="0" rtlCol="0" anchor="ctr"/>
          <a:lstStyle/>
          <a:p>
            <a:pPr algn="ctr" indent="0" marL="0">
              <a:buNone/>
            </a:pPr>
            <a:r>
              <a:rPr lang="en-US" sz="1400" b="1" dirty="0">
                <a:solidFill>
                  <a:schemeClr val="accent3"/>
                </a:solidFill>
              </a:rPr>
              <a:t>+</a:t>
            </a:r>
            <a:endParaRPr lang="en-US" sz="1400" dirty="0"/>
          </a:p>
        </p:txBody>
      </p:sp>
      <p:sp>
        <p:nvSpPr>
          <p:cNvPr id="12" name="chip-3"/>
          <p:cNvSpPr/>
          <p:nvPr/>
        </p:nvSpPr>
        <p:spPr>
          <a:xfrm>
            <a:off x="6903720" y="841248"/>
            <a:ext cx="1691640" cy="292608"/>
          </a:xfrm>
          <a:prstGeom prst="roundRect">
            <a:avLst>
              <a:gd name="adj" fmla="val 50000"/>
            </a:avLst>
          </a:prstGeom>
          <a:solidFill>
            <a:schemeClr val="tx2"/>
          </a:solidFill>
          <a:ln w="12700">
            <a:solidFill>
              <a:schemeClr val="tx2"/>
            </a:solidFill>
            <a:prstDash val="solid"/>
          </a:ln>
        </p:spPr>
      </p:sp>
      <p:sp>
        <p:nvSpPr>
          <p:cNvPr id="13" name="chip-text-3"/>
          <p:cNvSpPr txBox="1"/>
          <p:nvPr/>
        </p:nvSpPr>
        <p:spPr>
          <a:xfrm>
            <a:off x="6903720" y="841248"/>
            <a:ext cx="1691640" cy="292608"/>
          </a:xfrm>
          <a:prstGeom prst="rect">
            <a:avLst/>
          </a:prstGeom>
          <a:noFill/>
          <a:ln/>
        </p:spPr>
        <p:txBody>
          <a:bodyPr wrap="square" lIns="0" tIns="0" rIns="0" bIns="0" rtlCol="0" anchor="ctr"/>
          <a:lstStyle/>
          <a:p>
            <a:pPr algn="ctr" indent="0" marL="0">
              <a:buNone/>
            </a:pPr>
            <a:r>
              <a:rPr lang="en-US" sz="1200" b="1" dirty="0">
                <a:solidFill>
                  <a:schemeClr val="bg1"/>
                </a:solidFill>
              </a:rPr>
              <a:t>Monte Carlo simulation</a:t>
            </a:r>
            <a:endParaRPr lang="en-US" sz="1200" dirty="0"/>
          </a:p>
        </p:txBody>
      </p:sp>
      <p:sp>
        <p:nvSpPr>
          <p:cNvPr id="14" name="card-0"/>
          <p:cNvSpPr/>
          <p:nvPr/>
        </p:nvSpPr>
        <p:spPr>
          <a:xfrm>
            <a:off x="457200" y="1298448"/>
            <a:ext cx="2560320" cy="3291840"/>
          </a:xfrm>
          <a:prstGeom prst="roundRect">
            <a:avLst>
              <a:gd name="adj" fmla="val 2857"/>
            </a:avLst>
          </a:prstGeom>
          <a:solidFill>
            <a:schemeClr val="bg2"/>
          </a:solidFill>
          <a:ln w="12700">
            <a:solidFill>
              <a:schemeClr val="bg2"/>
            </a:solidFill>
            <a:prstDash val="solid"/>
          </a:ln>
        </p:spPr>
      </p:sp>
      <p:sp>
        <p:nvSpPr>
          <p:cNvPr id="15" name="label-0"/>
          <p:cNvSpPr txBox="1"/>
          <p:nvPr/>
        </p:nvSpPr>
        <p:spPr>
          <a:xfrm>
            <a:off x="594360" y="1408176"/>
            <a:ext cx="2286000" cy="201168"/>
          </a:xfrm>
          <a:prstGeom prst="rect">
            <a:avLst/>
          </a:prstGeom>
          <a:noFill/>
          <a:ln/>
        </p:spPr>
        <p:txBody>
          <a:bodyPr wrap="square" lIns="0" tIns="0" rIns="0" bIns="0" rtlCol="0" anchor="ctr"/>
          <a:lstStyle/>
          <a:p>
            <a:pPr indent="0" marL="0">
              <a:buNone/>
            </a:pPr>
            <a:r>
              <a:rPr lang="en-US" sz="1000" b="1" spc="100" kern="0" dirty="0">
                <a:solidFill>
                  <a:schemeClr val="accent1"/>
                </a:solidFill>
              </a:rPr>
              <a:t>1 · DEMAND FORECAST</a:t>
            </a:r>
            <a:endParaRPr lang="en-US" sz="1000" dirty="0"/>
          </a:p>
        </p:txBody>
      </p:sp>
      <p:sp>
        <p:nvSpPr>
          <p:cNvPr id="16" name="technique-0"/>
          <p:cNvSpPr txBox="1"/>
          <p:nvPr/>
        </p:nvSpPr>
        <p:spPr>
          <a:xfrm>
            <a:off x="594360" y="1609344"/>
            <a:ext cx="2286000" cy="43891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Moving average + quantile safety stock</a:t>
            </a:r>
            <a:endParaRPr lang="en-US" sz="1400" dirty="0"/>
          </a:p>
        </p:txBody>
      </p:sp>
      <p:sp>
        <p:nvSpPr>
          <p:cNvPr id="17" name="caption-0"/>
          <p:cNvSpPr txBox="1"/>
          <p:nvPr/>
        </p:nvSpPr>
        <p:spPr>
          <a:xfrm>
            <a:off x="594360" y="2066544"/>
            <a:ext cx="2286000" cy="182880"/>
          </a:xfrm>
          <a:prstGeom prst="rect">
            <a:avLst/>
          </a:prstGeom>
          <a:noFill/>
          <a:ln/>
        </p:spPr>
        <p:txBody>
          <a:bodyPr wrap="square" lIns="0" tIns="0" rIns="0" bIns="0" rtlCol="0" anchor="ctr"/>
          <a:lstStyle/>
          <a:p>
            <a:pPr indent="0" marL="0">
              <a:buNone/>
            </a:pPr>
            <a:r>
              <a:rPr lang="en-US" sz="1000" dirty="0">
                <a:solidFill>
                  <a:schemeClr val="accent3"/>
                </a:solidFill>
              </a:rPr>
              <a:t>Chicken, kg/day: actual vs forecast</a:t>
            </a:r>
            <a:endParaRPr lang="en-US" sz="1000" dirty="0"/>
          </a:p>
        </p:txBody>
      </p:sp>
      <p:sp>
        <p:nvSpPr>
          <p:cNvPr id="18" name="output-0"/>
          <p:cNvSpPr txBox="1"/>
          <p:nvPr/>
        </p:nvSpPr>
        <p:spPr>
          <a:xfrm>
            <a:off x="594360" y="3566160"/>
            <a:ext cx="2286000" cy="457200"/>
          </a:xfrm>
          <a:prstGeom prst="rect">
            <a:avLst/>
          </a:prstGeom>
          <a:noFill/>
          <a:ln/>
        </p:spPr>
        <p:txBody>
          <a:bodyPr wrap="square" lIns="0" tIns="0" rIns="0" bIns="0" rtlCol="0" anchor="t"/>
          <a:lstStyle/>
          <a:p>
            <a:pPr indent="0" marL="0">
              <a:buNone/>
            </a:pPr>
            <a:r>
              <a:rPr lang="en-US" sz="1400" b="1" dirty="0">
                <a:solidFill>
                  <a:schemeClr val="tx2"/>
                </a:solidFill>
              </a:rPr>
              <a:t>“Order 4 kg chicken, not 5 kg”</a:t>
            </a:r>
            <a:endParaRPr lang="en-US" sz="1400" dirty="0"/>
          </a:p>
        </p:txBody>
      </p:sp>
      <p:sp>
        <p:nvSpPr>
          <p:cNvPr id="19" name="metric-0"/>
          <p:cNvSpPr txBox="1"/>
          <p:nvPr/>
        </p:nvSpPr>
        <p:spPr>
          <a:xfrm>
            <a:off x="594360" y="4041648"/>
            <a:ext cx="2286000" cy="457200"/>
          </a:xfrm>
          <a:prstGeom prst="rect">
            <a:avLst/>
          </a:prstGeom>
          <a:noFill/>
          <a:ln/>
        </p:spPr>
        <p:txBody>
          <a:bodyPr wrap="square" lIns="0" tIns="0" rIns="0" bIns="0" rtlCol="0" anchor="t"/>
          <a:lstStyle/>
          <a:p>
            <a:pPr indent="0" marL="0">
              <a:buNone/>
            </a:pPr>
            <a:r>
              <a:rPr lang="en-US" sz="1200" b="1" dirty="0">
                <a:solidFill>
                  <a:schemeClr val="tx1"/>
                </a:solidFill>
              </a:rPr>
              <a:t>8% </a:t>
            </a:r>
            <a:pPr indent="0" marL="0">
              <a:buNone/>
            </a:pPr>
            <a:r>
              <a:rPr lang="en-US" sz="1200" dirty="0">
                <a:solidFill>
                  <a:schemeClr val="tx1"/>
                </a:solidFill>
              </a:rPr>
              <a:t>weekly forecast error (WAPE) vs 25% for habit orders</a:t>
            </a:r>
            <a:endParaRPr lang="en-US" sz="1200" dirty="0"/>
          </a:p>
        </p:txBody>
      </p:sp>
      <p:sp>
        <p:nvSpPr>
          <p:cNvPr id="20" name="card-1"/>
          <p:cNvSpPr/>
          <p:nvPr/>
        </p:nvSpPr>
        <p:spPr>
          <a:xfrm>
            <a:off x="3291840" y="1298448"/>
            <a:ext cx="2560320" cy="3291840"/>
          </a:xfrm>
          <a:prstGeom prst="roundRect">
            <a:avLst>
              <a:gd name="adj" fmla="val 2857"/>
            </a:avLst>
          </a:prstGeom>
          <a:solidFill>
            <a:schemeClr val="bg2"/>
          </a:solidFill>
          <a:ln w="12700">
            <a:solidFill>
              <a:schemeClr val="bg2"/>
            </a:solidFill>
            <a:prstDash val="solid"/>
          </a:ln>
        </p:spPr>
      </p:sp>
      <p:sp>
        <p:nvSpPr>
          <p:cNvPr id="21" name="label-1"/>
          <p:cNvSpPr txBox="1"/>
          <p:nvPr/>
        </p:nvSpPr>
        <p:spPr>
          <a:xfrm>
            <a:off x="3429000" y="1408176"/>
            <a:ext cx="2286000" cy="201168"/>
          </a:xfrm>
          <a:prstGeom prst="rect">
            <a:avLst/>
          </a:prstGeom>
          <a:noFill/>
          <a:ln/>
        </p:spPr>
        <p:txBody>
          <a:bodyPr wrap="square" lIns="0" tIns="0" rIns="0" bIns="0" rtlCol="0" anchor="ctr"/>
          <a:lstStyle/>
          <a:p>
            <a:pPr indent="0" marL="0">
              <a:buNone/>
            </a:pPr>
            <a:r>
              <a:rPr lang="en-US" sz="1000" b="1" spc="100" kern="0" dirty="0">
                <a:solidFill>
                  <a:schemeClr val="accent1"/>
                </a:solidFill>
              </a:rPr>
              <a:t>2 · EXPIRY RISK</a:t>
            </a:r>
            <a:endParaRPr lang="en-US" sz="1000" dirty="0"/>
          </a:p>
        </p:txBody>
      </p:sp>
      <p:sp>
        <p:nvSpPr>
          <p:cNvPr id="22" name="technique-1"/>
          <p:cNvSpPr txBox="1"/>
          <p:nvPr/>
        </p:nvSpPr>
        <p:spPr>
          <a:xfrm>
            <a:off x="3429000" y="1609344"/>
            <a:ext cx="2286000" cy="43891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Monte Carlo simulation, 1,000 runs, FEFO</a:t>
            </a:r>
            <a:endParaRPr lang="en-US" sz="1400" dirty="0"/>
          </a:p>
        </p:txBody>
      </p:sp>
      <p:sp>
        <p:nvSpPr>
          <p:cNvPr id="23" name="caption-1"/>
          <p:cNvSpPr txBox="1"/>
          <p:nvPr/>
        </p:nvSpPr>
        <p:spPr>
          <a:xfrm>
            <a:off x="3429000" y="2066544"/>
            <a:ext cx="2286000" cy="182880"/>
          </a:xfrm>
          <a:prstGeom prst="rect">
            <a:avLst/>
          </a:prstGeom>
          <a:noFill/>
          <a:ln/>
        </p:spPr>
        <p:txBody>
          <a:bodyPr wrap="square" lIns="0" tIns="0" rIns="0" bIns="0" rtlCol="0" anchor="ctr"/>
          <a:lstStyle/>
          <a:p>
            <a:pPr indent="0" marL="0">
              <a:buNone/>
            </a:pPr>
            <a:r>
              <a:rPr lang="en-US" sz="1000" dirty="0">
                <a:solidFill>
                  <a:schemeClr val="accent3"/>
                </a:solidFill>
              </a:rPr>
              <a:t>Tomato batch, kg left (red = binned)</a:t>
            </a:r>
            <a:endParaRPr lang="en-US" sz="1000" dirty="0"/>
          </a:p>
        </p:txBody>
      </p:sp>
      <p:sp>
        <p:nvSpPr>
          <p:cNvPr id="24" name="output-1"/>
          <p:cNvSpPr txBox="1"/>
          <p:nvPr/>
        </p:nvSpPr>
        <p:spPr>
          <a:xfrm>
            <a:off x="3429000" y="3566160"/>
            <a:ext cx="2286000" cy="457200"/>
          </a:xfrm>
          <a:prstGeom prst="rect">
            <a:avLst/>
          </a:prstGeom>
          <a:noFill/>
          <a:ln/>
        </p:spPr>
        <p:txBody>
          <a:bodyPr wrap="square" lIns="0" tIns="0" rIns="0" bIns="0" rtlCol="0" anchor="t"/>
          <a:lstStyle/>
          <a:p>
            <a:pPr indent="0" marL="0">
              <a:buNone/>
            </a:pPr>
            <a:r>
              <a:rPr lang="en-US" sz="1400" b="1" dirty="0">
                <a:solidFill>
                  <a:schemeClr val="tx2"/>
                </a:solidFill>
              </a:rPr>
              <a:t>“Use the tomatoes first: 71% risk by Sat”</a:t>
            </a:r>
            <a:endParaRPr lang="en-US" sz="1400" dirty="0"/>
          </a:p>
        </p:txBody>
      </p:sp>
      <p:sp>
        <p:nvSpPr>
          <p:cNvPr id="25" name="metric-1"/>
          <p:cNvSpPr txBox="1"/>
          <p:nvPr/>
        </p:nvSpPr>
        <p:spPr>
          <a:xfrm>
            <a:off x="3429000" y="4041648"/>
            <a:ext cx="2286000" cy="457200"/>
          </a:xfrm>
          <a:prstGeom prst="rect">
            <a:avLst/>
          </a:prstGeom>
          <a:noFill/>
          <a:ln/>
        </p:spPr>
        <p:txBody>
          <a:bodyPr wrap="square" lIns="0" tIns="0" rIns="0" bIns="0" rtlCol="0" anchor="t"/>
          <a:lstStyle/>
          <a:p>
            <a:pPr indent="0" marL="0">
              <a:buNone/>
            </a:pPr>
            <a:r>
              <a:rPr lang="en-US" sz="1200" b="1" dirty="0">
                <a:solidFill>
                  <a:schemeClr val="tx1"/>
                </a:solidFill>
              </a:rPr>
              <a:t>99% </a:t>
            </a:r>
            <a:pPr indent="0" marL="0">
              <a:buNone/>
            </a:pPr>
            <a:r>
              <a:rPr lang="en-US" sz="1200" dirty="0">
                <a:solidFill>
                  <a:schemeClr val="tx1"/>
                </a:solidFill>
              </a:rPr>
              <a:t>of binned batches flagged, 2.3 days early (AUC 0.88)</a:t>
            </a:r>
            <a:endParaRPr lang="en-US" sz="1200" dirty="0"/>
          </a:p>
        </p:txBody>
      </p:sp>
      <p:sp>
        <p:nvSpPr>
          <p:cNvPr id="26" name="card-2"/>
          <p:cNvSpPr/>
          <p:nvPr/>
        </p:nvSpPr>
        <p:spPr>
          <a:xfrm>
            <a:off x="6126480" y="1298448"/>
            <a:ext cx="2560320" cy="3291840"/>
          </a:xfrm>
          <a:prstGeom prst="roundRect">
            <a:avLst>
              <a:gd name="adj" fmla="val 2857"/>
            </a:avLst>
          </a:prstGeom>
          <a:solidFill>
            <a:schemeClr val="bg2"/>
          </a:solidFill>
          <a:ln w="12700">
            <a:solidFill>
              <a:schemeClr val="bg2"/>
            </a:solidFill>
            <a:prstDash val="solid"/>
          </a:ln>
        </p:spPr>
      </p:sp>
      <p:sp>
        <p:nvSpPr>
          <p:cNvPr id="27" name="label-2"/>
          <p:cNvSpPr txBox="1"/>
          <p:nvPr/>
        </p:nvSpPr>
        <p:spPr>
          <a:xfrm>
            <a:off x="6263640" y="1408176"/>
            <a:ext cx="2286000" cy="201168"/>
          </a:xfrm>
          <a:prstGeom prst="rect">
            <a:avLst/>
          </a:prstGeom>
          <a:noFill/>
          <a:ln/>
        </p:spPr>
        <p:txBody>
          <a:bodyPr wrap="square" lIns="0" tIns="0" rIns="0" bIns="0" rtlCol="0" anchor="ctr"/>
          <a:lstStyle/>
          <a:p>
            <a:pPr indent="0" marL="0">
              <a:buNone/>
            </a:pPr>
            <a:r>
              <a:rPr lang="en-US" sz="1000" b="1" spc="100" kern="0" dirty="0">
                <a:solidFill>
                  <a:schemeClr val="accent1"/>
                </a:solidFill>
              </a:rPr>
              <a:t>3 · WASTE FORECAST</a:t>
            </a:r>
            <a:endParaRPr lang="en-US" sz="1000" dirty="0"/>
          </a:p>
        </p:txBody>
      </p:sp>
      <p:sp>
        <p:nvSpPr>
          <p:cNvPr id="28" name="technique-2"/>
          <p:cNvSpPr txBox="1"/>
          <p:nvPr/>
        </p:nvSpPr>
        <p:spPr>
          <a:xfrm>
            <a:off x="6263640" y="1609344"/>
            <a:ext cx="2286000" cy="438912"/>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Monte Carlo policy simulation</a:t>
            </a:r>
            <a:endParaRPr lang="en-US" sz="1400" dirty="0"/>
          </a:p>
        </p:txBody>
      </p:sp>
      <p:sp>
        <p:nvSpPr>
          <p:cNvPr id="29" name="caption-2"/>
          <p:cNvSpPr txBox="1"/>
          <p:nvPr/>
        </p:nvSpPr>
        <p:spPr>
          <a:xfrm>
            <a:off x="6263640" y="2066544"/>
            <a:ext cx="2286000" cy="182880"/>
          </a:xfrm>
          <a:prstGeom prst="rect">
            <a:avLst/>
          </a:prstGeom>
          <a:noFill/>
          <a:ln/>
        </p:spPr>
        <p:txBody>
          <a:bodyPr wrap="square" lIns="0" tIns="0" rIns="0" bIns="0" rtlCol="0" anchor="ctr"/>
          <a:lstStyle/>
          <a:p>
            <a:pPr indent="0" marL="0">
              <a:buNone/>
            </a:pPr>
            <a:r>
              <a:rPr lang="en-US" sz="1000" dirty="0">
                <a:solidFill>
                  <a:schemeClr val="accent3"/>
                </a:solidFill>
              </a:rPr>
              <a:t>Avoidable waste, RM per month</a:t>
            </a:r>
            <a:endParaRPr lang="en-US" sz="1000" dirty="0"/>
          </a:p>
        </p:txBody>
      </p:sp>
      <p:sp>
        <p:nvSpPr>
          <p:cNvPr id="30" name="output-2"/>
          <p:cNvSpPr txBox="1"/>
          <p:nvPr/>
        </p:nvSpPr>
        <p:spPr>
          <a:xfrm>
            <a:off x="6263640" y="3566160"/>
            <a:ext cx="2286000" cy="457200"/>
          </a:xfrm>
          <a:prstGeom prst="rect">
            <a:avLst/>
          </a:prstGeom>
          <a:noFill/>
          <a:ln/>
        </p:spPr>
        <p:txBody>
          <a:bodyPr wrap="square" lIns="0" tIns="0" rIns="0" bIns="0" rtlCol="0" anchor="t"/>
          <a:lstStyle/>
          <a:p>
            <a:pPr indent="0" marL="0">
              <a:buNone/>
            </a:pPr>
            <a:r>
              <a:rPr lang="en-US" sz="1400" b="1" dirty="0">
                <a:solidFill>
                  <a:schemeClr val="accent1"/>
                </a:solidFill>
              </a:rPr>
              <a:t>“Smart orders cut waste by 91%”</a:t>
            </a:r>
            <a:endParaRPr lang="en-US" sz="1400" dirty="0"/>
          </a:p>
        </p:txBody>
      </p:sp>
      <p:sp>
        <p:nvSpPr>
          <p:cNvPr id="31" name="metric-2"/>
          <p:cNvSpPr txBox="1"/>
          <p:nvPr/>
        </p:nvSpPr>
        <p:spPr>
          <a:xfrm>
            <a:off x="6263640" y="4041648"/>
            <a:ext cx="2286000" cy="457200"/>
          </a:xfrm>
          <a:prstGeom prst="rect">
            <a:avLst/>
          </a:prstGeom>
          <a:noFill/>
          <a:ln/>
        </p:spPr>
        <p:txBody>
          <a:bodyPr wrap="square" lIns="0" tIns="0" rIns="0" bIns="0" rtlCol="0" anchor="t"/>
          <a:lstStyle/>
          <a:p>
            <a:pPr indent="0" marL="0">
              <a:buNone/>
            </a:pPr>
            <a:r>
              <a:rPr lang="en-US" sz="1200" b="1" dirty="0">
                <a:solidFill>
                  <a:schemeClr val="tx1"/>
                </a:solidFill>
              </a:rPr>
              <a:t>RM582 </a:t>
            </a:r>
            <a:pPr indent="0" marL="0">
              <a:buNone/>
            </a:pPr>
            <a:r>
              <a:rPr lang="en-US" sz="1200" dirty="0">
                <a:solidFill>
                  <a:schemeClr val="tx1"/>
                </a:solidFill>
              </a:rPr>
              <a:t>net saving per outlet per month, after extra run-outs</a:t>
            </a:r>
            <a:endParaRPr lang="en-US" sz="1200" dirty="0"/>
          </a:p>
        </p:txBody>
      </p:sp>
      <p:graphicFrame>
        <p:nvGraphicFramePr>
          <p:cNvPr id="32" name="chart-forecast" descr=""/>
          <p:cNvGraphicFramePr/>
          <p:nvPr/>
        </p:nvGraphicFramePr>
        <p:xfrm>
          <a:off x="502920" y="2258568"/>
          <a:ext cx="2468880" cy="1261872"/>
        </p:xfrm>
        <a:graphic xmlns:a="http://schemas.openxmlformats.org/drawingml/2006/main">
          <a:graphicData uri="http://schemas.openxmlformats.org/drawingml/2006/chart">
            <c:chart xmlns:c="http://schemas.openxmlformats.org/drawingml/2006/chart" r:id="rId1"/>
          </a:graphicData>
        </a:graphic>
      </p:graphicFrame>
      <p:graphicFrame>
        <p:nvGraphicFramePr>
          <p:cNvPr id="33" name="chart-montecarlo" descr=""/>
          <p:cNvGraphicFramePr/>
          <p:nvPr/>
        </p:nvGraphicFramePr>
        <p:xfrm>
          <a:off x="3337560" y="2258568"/>
          <a:ext cx="2468880" cy="1261872"/>
        </p:xfrm>
        <a:graphic xmlns:a="http://schemas.openxmlformats.org/drawingml/2006/main">
          <a:graphicData uri="http://schemas.openxmlformats.org/drawingml/2006/chart">
            <c:chart xmlns:c="http://schemas.openxmlformats.org/drawingml/2006/chart" r:id="rId2"/>
          </a:graphicData>
        </a:graphic>
      </p:graphicFrame>
      <p:graphicFrame>
        <p:nvGraphicFramePr>
          <p:cNvPr id="34" name="chart-waste" descr=""/>
          <p:cNvGraphicFramePr/>
          <p:nvPr/>
        </p:nvGraphicFramePr>
        <p:xfrm>
          <a:off x="6172200" y="2258568"/>
          <a:ext cx="2468880" cy="1261872"/>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theme/theme1.xml><?xml version="1.0" encoding="utf-8"?>
<a:theme xmlns:a="http://schemas.openxmlformats.org/drawingml/2006/main" name="WasteLess">
  <a:themeElements>
    <a:clrScheme name="WasteLess">
      <a:dk1>
        <a:srgbClr val="172420"/>
      </a:dk1>
      <a:lt1>
        <a:srgbClr val="FFFFFF"/>
      </a:lt1>
      <a:dk2>
        <a:srgbClr val="0E5C4A"/>
      </a:dk2>
      <a:lt2>
        <a:srgbClr val="EEF4F1"/>
      </a:lt2>
      <a:accent1>
        <a:srgbClr val="0E7C63"/>
      </a:accent1>
      <a:accent2>
        <a:srgbClr val="C4471A"/>
      </a:accent2>
      <a:accent3>
        <a:srgbClr val="5A6B64"/>
      </a:accent3>
      <a:accent4>
        <a:srgbClr val="A9B6B0"/>
      </a:accent4>
      <a:accent5>
        <a:srgbClr val="D6EDE6"/>
      </a:accent5>
      <a:accent6>
        <a:srgbClr val="E8A33D"/>
      </a:accent6>
      <a:hlink>
        <a:srgbClr val="0E7C63"/>
      </a:hlink>
      <a:folHlink>
        <a:srgbClr val="5A6B64"/>
      </a:folHlink>
    </a:clrScheme>
    <a:fontScheme name="WasteLe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WasteLess prediction models</dc:title>
  <dc:subject>PptxGenJS Presentation</dc:subject>
  <dc:creator>PptxGenJS</dc:creator>
  <cp:lastModifiedBy>PptxGenJS</cp:lastModifiedBy>
  <cp:revision>1</cp:revision>
  <dcterms:created xsi:type="dcterms:W3CDTF">2026-10-06T06:16:18Z</dcterms:created>
  <dcterms:modified xsi:type="dcterms:W3CDTF">2026-10-06T06:16:18Z</dcterms:modified>
</cp:coreProperties>
</file>